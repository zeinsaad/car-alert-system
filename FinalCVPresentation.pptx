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6" r:id="rId12"/>
    <p:sldId id="267" r:id="rId13"/>
    <p:sldId id="268" r:id="rId14"/>
    <p:sldId id="269" r:id="rId15"/>
    <p:sldId id="270" r:id="rId16"/>
    <p:sldId id="272" r:id="rId17"/>
    <p:sldId id="271" r:id="rId18"/>
    <p:sldId id="274" r:id="rId1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1" autoAdjust="0"/>
    <p:restoredTop sz="94660"/>
  </p:normalViewPr>
  <p:slideViewPr>
    <p:cSldViewPr snapToGrid="0" showGuides="1">
      <p:cViewPr varScale="1">
        <p:scale>
          <a:sx n="53" d="100"/>
          <a:sy n="53" d="100"/>
        </p:scale>
        <p:origin x="180" y="54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2" Type="http://schemas.openxmlformats.org/officeDocument/2006/relationships/tableStyles" Target="tableStyles.xml"/><Relationship Id="rId21" Type="http://schemas.openxmlformats.org/officeDocument/2006/relationships/viewProps" Target="viewProps.xml"/><Relationship Id="rId20" Type="http://schemas.openxmlformats.org/officeDocument/2006/relationships/presProps" Target="presProps.xml"/><Relationship Id="rId2" Type="http://schemas.openxmlformats.org/officeDocument/2006/relationships/theme" Target="theme/theme1.xml"/><Relationship Id="rId19" Type="http://schemas.openxmlformats.org/officeDocument/2006/relationships/slide" Target="slides/slide17.xml"/><Relationship Id="rId18" Type="http://schemas.openxmlformats.org/officeDocument/2006/relationships/slide" Target="slides/slide16.xml"/><Relationship Id="rId17" Type="http://schemas.openxmlformats.org/officeDocument/2006/relationships/slide" Target="slides/slide15.xml"/><Relationship Id="rId16" Type="http://schemas.openxmlformats.org/officeDocument/2006/relationships/slide" Target="slides/slide14.xml"/><Relationship Id="rId15" Type="http://schemas.openxmlformats.org/officeDocument/2006/relationships/slide" Target="slides/slide13.xml"/><Relationship Id="rId14" Type="http://schemas.openxmlformats.org/officeDocument/2006/relationships/slide" Target="slides/slide12.xml"/><Relationship Id="rId13" Type="http://schemas.openxmlformats.org/officeDocument/2006/relationships/slide" Target="slides/slide11.xml"/><Relationship Id="rId12" Type="http://schemas.openxmlformats.org/officeDocument/2006/relationships/slide" Target="slides/slide10.xml"/><Relationship Id="rId11" Type="http://schemas.openxmlformats.org/officeDocument/2006/relationships/slide" Target="slides/slide9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.xml"/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hyperlink" Target="https://www.kaggle.com/datasets/prasadvpatil/mrl-dataset/data" TargetMode="Externa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3.jpeg"/><Relationship Id="rId1" Type="http://schemas.openxmlformats.org/officeDocument/2006/relationships/hyperlink" Target="https://www.kaggle.com/competitions/state-farm-distracted-driver-detection/data" TargetMode="Externa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4.jpeg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.xml"/><Relationship Id="rId3" Type="http://schemas.openxmlformats.org/officeDocument/2006/relationships/image" Target="../media/image5.png"/><Relationship Id="rId2" Type="http://schemas.openxmlformats.org/officeDocument/2006/relationships/hyperlink" Target="https://www.kaggle.com/datasets/mohamedadlyi/aflw2000-3d" TargetMode="External"/><Relationship Id="rId1" Type="http://schemas.openxmlformats.org/officeDocument/2006/relationships/hyperlink" Target="https://www.kaggle.com/datasets/kmader/biwi-kinect-head-pose-database" TargetMode="Externa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US" altLang="en-US" dirty="0"/>
              <a:t>Driver Monitoring and Alert System</a:t>
            </a:r>
            <a:endParaRPr lang="en-US" alt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>
            <a:normAutofit fontScale="60000"/>
          </a:bodyPr>
          <a:lstStyle/>
          <a:p>
            <a:r>
              <a:rPr lang="en-US" altLang="en-US"/>
              <a:t>Real-Time Detection of Driver Drowsiness, Distraction, and Phone Usage</a:t>
            </a:r>
            <a:endParaRPr lang="en-US" altLang="en-US"/>
          </a:p>
          <a:p>
            <a:r>
              <a:rPr lang="en-US" altLang="en-US"/>
              <a:t>Presented By : </a:t>
            </a:r>
            <a:endParaRPr lang="en-US" altLang="en-US"/>
          </a:p>
          <a:p>
            <a:r>
              <a:rPr lang="en-US" altLang="en-US"/>
              <a:t>Zein Saad</a:t>
            </a:r>
            <a:endParaRPr lang="en-US" altLang="en-US"/>
          </a:p>
          <a:p>
            <a:r>
              <a:rPr lang="en-US" altLang="en-US"/>
              <a:t>Presented To : </a:t>
            </a:r>
            <a:br>
              <a:rPr lang="en-US" altLang="en-US"/>
            </a:br>
            <a:r>
              <a:rPr lang="en-US" altLang="en-US"/>
              <a:t>Dr . Abbass Zaineddine</a:t>
            </a:r>
            <a:endParaRPr lang="en-US" alt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altLang="en-US"/>
              <a:t>Project Objective</a:t>
            </a:r>
            <a:endParaRPr lang="en-US" alt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p>
            <a:r>
              <a:rPr lang="en-US" altLang="en-US"/>
              <a:t>Detect eye closure to identify driver drowsiness</a:t>
            </a:r>
            <a:endParaRPr lang="en-US" altLang="en-US"/>
          </a:p>
          <a:p>
            <a:r>
              <a:rPr lang="en-US" altLang="en-US">
                <a:sym typeface="+mn-ea"/>
              </a:rPr>
              <a:t>Detect mobile phone usage using object detection</a:t>
            </a:r>
            <a:endParaRPr lang="en-US" altLang="en-US"/>
          </a:p>
          <a:p>
            <a:r>
              <a:rPr lang="en-US" altLang="en-US"/>
              <a:t>Detect head pose deviation to identify driver distraction</a:t>
            </a:r>
            <a:endParaRPr lang="en-US" altLang="en-US"/>
          </a:p>
          <a:p>
            <a:r>
              <a:rPr lang="en-US" altLang="en-US"/>
              <a:t>Combine all detections into a priority-based alert system</a:t>
            </a:r>
            <a:endParaRPr lang="en-US" altLang="en-US"/>
          </a:p>
          <a:p>
            <a:endParaRPr lang="en-US" alt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altLang="en-US"/>
              <a:t>Eye Closure Detection: Model Overview</a:t>
            </a:r>
            <a:endParaRPr lang="en-US" alt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p>
            <a:r>
              <a:rPr lang="en-US" altLang="en-US"/>
              <a:t>A CNN is trained to classify eye images as:</a:t>
            </a:r>
            <a:endParaRPr lang="en-US" altLang="en-US"/>
          </a:p>
          <a:p>
            <a:pPr lvl="1"/>
            <a:r>
              <a:rPr lang="en-US" altLang="en-US"/>
              <a:t>Open</a:t>
            </a:r>
            <a:endParaRPr lang="en-US" altLang="en-US"/>
          </a:p>
          <a:p>
            <a:pPr lvl="1"/>
            <a:r>
              <a:rPr lang="en-US" altLang="en-US"/>
              <a:t>Closed</a:t>
            </a:r>
            <a:endParaRPr lang="en-US" altLang="en-US"/>
          </a:p>
          <a:p>
            <a:pPr lvl="0"/>
            <a:r>
              <a:rPr lang="en-US" altLang="en-US"/>
              <a:t>Input: 64 × 64 grayscale eye image</a:t>
            </a:r>
            <a:endParaRPr lang="en-US" altLang="en-US"/>
          </a:p>
          <a:p>
            <a:pPr lvl="0"/>
            <a:r>
              <a:rPr lang="en-US" altLang="en-US"/>
              <a:t>CNN Architecture : 3 Convolution layers 16 → 32 → 64 filters (3×3)</a:t>
            </a:r>
            <a:endParaRPr lang="en-US" alt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/>
              <a:t>Eye State Dataset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437005"/>
            <a:ext cx="10515600" cy="4351338"/>
          </a:xfrm>
        </p:spPr>
        <p:txBody>
          <a:bodyPr>
            <a:noAutofit/>
          </a:bodyPr>
          <a:p>
            <a:r>
              <a:rPr lang="en-US" altLang="en-US" sz="2400"/>
              <a:t>Drowsiness Detection Dataset (</a:t>
            </a:r>
            <a:r>
              <a:rPr lang="en-US" altLang="en-US" sz="2400">
                <a:hlinkClick r:id="rId1" action="ppaction://hlinkfile"/>
              </a:rPr>
              <a:t>https://www.kaggle.com/datasets/prasadvpatil/mrl-dataset/data</a:t>
            </a:r>
            <a:r>
              <a:rPr lang="en-US" altLang="en-US" sz="2400"/>
              <a:t>)</a:t>
            </a:r>
            <a:endParaRPr lang="en-US" altLang="en-US" sz="2400"/>
          </a:p>
          <a:p>
            <a:pPr lvl="1"/>
            <a:r>
              <a:rPr lang="en-US" altLang="en-US">
                <a:sym typeface="+mn-ea"/>
              </a:rPr>
              <a:t>Labeled images: open eyes / closed eyes</a:t>
            </a:r>
            <a:endParaRPr lang="en-US" altLang="en-US"/>
          </a:p>
          <a:p>
            <a:pPr lvl="1"/>
            <a:r>
              <a:rPr lang="en-US" altLang="en-US">
                <a:sym typeface="+mn-ea"/>
              </a:rPr>
              <a:t>Used for binary classification</a:t>
            </a:r>
            <a:endParaRPr lang="en-US" altLang="en-US">
              <a:sym typeface="+mn-ea"/>
            </a:endParaRPr>
          </a:p>
          <a:p>
            <a:pPr lvl="0"/>
            <a:r>
              <a:rPr lang="en-US" altLang="en-US"/>
              <a:t>Data Preprocessing</a:t>
            </a:r>
            <a:r>
              <a:rPr lang="en-US" altLang="en-US">
                <a:sym typeface="+mn-ea"/>
              </a:rPr>
              <a:t> : </a:t>
            </a:r>
            <a:endParaRPr lang="en-US" altLang="en-US">
              <a:sym typeface="+mn-ea"/>
            </a:endParaRPr>
          </a:p>
          <a:p>
            <a:pPr lvl="1"/>
            <a:r>
              <a:rPr lang="en-US" altLang="en-US"/>
              <a:t>For Training:</a:t>
            </a:r>
            <a:endParaRPr lang="en-US" altLang="en-US"/>
          </a:p>
          <a:p>
            <a:pPr lvl="2"/>
            <a:r>
              <a:rPr lang="en-US" altLang="en-US" sz="1800"/>
              <a:t>Grayscale conversion</a:t>
            </a:r>
            <a:endParaRPr lang="en-US" altLang="en-US" sz="1800"/>
          </a:p>
          <a:p>
            <a:pPr lvl="2"/>
            <a:r>
              <a:rPr lang="en-US" altLang="en-US" sz="1800"/>
              <a:t>Resize to 64×64</a:t>
            </a:r>
            <a:endParaRPr lang="en-US" altLang="en-US" sz="1800"/>
          </a:p>
          <a:p>
            <a:pPr lvl="2"/>
            <a:r>
              <a:rPr lang="en-US" altLang="en-US" sz="1800"/>
              <a:t>Random affine transformations</a:t>
            </a:r>
            <a:endParaRPr lang="en-US" altLang="en-US" sz="1800"/>
          </a:p>
          <a:p>
            <a:pPr lvl="2"/>
            <a:r>
              <a:rPr lang="en-US" altLang="en-US" sz="1800"/>
              <a:t>Brightness &amp; contrast jitter</a:t>
            </a:r>
            <a:endParaRPr lang="en-US" altLang="en-US" sz="1800"/>
          </a:p>
          <a:p>
            <a:pPr lvl="2"/>
            <a:r>
              <a:rPr lang="en-US" altLang="en-US" sz="1800"/>
              <a:t>Normalization (mean=0.5, std=0.5)</a:t>
            </a:r>
            <a:endParaRPr lang="en-US" altLang="en-US" sz="1800"/>
          </a:p>
          <a:p>
            <a:pPr lvl="1"/>
            <a:r>
              <a:rPr lang="en-US" altLang="en-US"/>
              <a:t>For Validation:</a:t>
            </a:r>
            <a:endParaRPr lang="en-US" altLang="en-US"/>
          </a:p>
          <a:p>
            <a:pPr lvl="2"/>
            <a:r>
              <a:rPr lang="en-US" altLang="en-US" sz="1800"/>
              <a:t>Same preprocessing</a:t>
            </a:r>
            <a:endParaRPr lang="en-US" altLang="en-US" sz="1800"/>
          </a:p>
          <a:p>
            <a:pPr lvl="2"/>
            <a:r>
              <a:rPr lang="en-US" altLang="en-US" sz="1800"/>
              <a:t>No augmentation</a:t>
            </a:r>
            <a:endParaRPr lang="en-US" altLang="en-US" sz="1800"/>
          </a:p>
          <a:p>
            <a:endParaRPr lang="en-US" altLang="en-US" sz="1800"/>
          </a:p>
        </p:txBody>
      </p:sp>
      <p:pic>
        <p:nvPicPr>
          <p:cNvPr id="4" name="Picture 3" descr="s0001_02334_0_0_1_0_0_0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907905" y="3607435"/>
            <a:ext cx="1677035" cy="1677035"/>
          </a:xfrm>
          <a:prstGeom prst="rect">
            <a:avLst/>
          </a:prstGeom>
        </p:spPr>
      </p:pic>
      <p:pic>
        <p:nvPicPr>
          <p:cNvPr id="5" name="Picture 4" descr="s0001_00001_0_0_0_0_0_0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24775" y="3607435"/>
            <a:ext cx="1657985" cy="1657985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altLang="en-US"/>
              <a:t>Drowsiness Decision Logic</a:t>
            </a:r>
            <a:endParaRPr lang="en-US" alt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p>
            <a:r>
              <a:rPr lang="en-US" altLang="en-US"/>
              <a:t>Each eye classified independently</a:t>
            </a:r>
            <a:endParaRPr lang="en-US" altLang="en-US"/>
          </a:p>
          <a:p>
            <a:r>
              <a:rPr lang="en-US" altLang="en-US"/>
              <a:t>Probabilities averaged for robustness</a:t>
            </a:r>
            <a:endParaRPr lang="en-US" altLang="en-US"/>
          </a:p>
          <a:p>
            <a:r>
              <a:rPr lang="en-US" altLang="en-US"/>
              <a:t>Eye closure detected when:</a:t>
            </a:r>
            <a:endParaRPr lang="en-US" altLang="en-US"/>
          </a:p>
          <a:p>
            <a:pPr lvl="1"/>
            <a:r>
              <a:rPr lang="en-US" altLang="en-US"/>
              <a:t>Closed-eye probability &lt; threshold</a:t>
            </a:r>
            <a:endParaRPr lang="en-US" altLang="en-US"/>
          </a:p>
          <a:p>
            <a:pPr lvl="1"/>
            <a:r>
              <a:rPr lang="en-US" altLang="en-US"/>
              <a:t>Condition persists for several frames</a:t>
            </a:r>
            <a:endParaRPr lang="en-US" altLang="en-US"/>
          </a:p>
          <a:p>
            <a:r>
              <a:rPr lang="en-US" altLang="en-US"/>
              <a:t>Short blinks are ignored</a:t>
            </a:r>
            <a:endParaRPr lang="en-US" alt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/>
              <a:t>T</a:t>
            </a:r>
            <a:r>
              <a:rPr lang="en-US" altLang="en-US"/>
              <a:t>raining &amp; Validation Results — Eye State CNN</a:t>
            </a:r>
            <a:endParaRPr lang="en-US" alt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p>
            <a:r>
              <a:rPr lang="en-US" altLang="en-US"/>
              <a:t>Dataset Split</a:t>
            </a:r>
            <a:endParaRPr lang="en-US" altLang="en-US"/>
          </a:p>
          <a:p>
            <a:pPr lvl="1"/>
            <a:r>
              <a:rPr lang="en-US" altLang="en-US"/>
              <a:t>Training set: 3,200 images</a:t>
            </a:r>
            <a:endParaRPr lang="en-US" altLang="en-US"/>
          </a:p>
          <a:p>
            <a:pPr lvl="1"/>
            <a:r>
              <a:rPr lang="en-US" altLang="en-US"/>
              <a:t>Validation set: 800 images (80 / 20 split)</a:t>
            </a:r>
            <a:endParaRPr lang="en-US" altLang="en-US"/>
          </a:p>
          <a:p>
            <a:r>
              <a:rPr lang="en-US" altLang="en-US"/>
              <a:t>Final Performance (Epoch 10)</a:t>
            </a:r>
            <a:endParaRPr lang="en-US" altLang="en-US"/>
          </a:p>
          <a:p>
            <a:pPr lvl="1"/>
            <a:r>
              <a:rPr lang="en-US" altLang="en-US"/>
              <a:t>Training Accuracy: 98.91%</a:t>
            </a:r>
            <a:endParaRPr lang="en-US" altLang="en-US"/>
          </a:p>
          <a:p>
            <a:pPr lvl="1"/>
            <a:r>
              <a:rPr lang="en-US" altLang="en-US"/>
              <a:t>Validation Accuracy: 98.88%</a:t>
            </a:r>
            <a:endParaRPr lang="en-US" altLang="en-US"/>
          </a:p>
          <a:p>
            <a:pPr lvl="1"/>
            <a:r>
              <a:rPr lang="en-US" altLang="en-US"/>
              <a:t>Training Loss: 0.0040</a:t>
            </a:r>
            <a:endParaRPr lang="en-US" altLang="en-US"/>
          </a:p>
          <a:p>
            <a:pPr lvl="1"/>
            <a:r>
              <a:rPr lang="en-US" altLang="en-US"/>
              <a:t>Validation Loss: 0.0052</a:t>
            </a:r>
            <a:endParaRPr lang="en-US" alt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altLang="en-US"/>
              <a:t>Phone Detection Module — Objective</a:t>
            </a:r>
            <a:endParaRPr lang="en-US" alt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p>
            <a:r>
              <a:rPr lang="en-US" altLang="en-US"/>
              <a:t>The phone detection module aims to:</a:t>
            </a:r>
            <a:endParaRPr lang="en-US" altLang="en-US"/>
          </a:p>
          <a:p>
            <a:pPr lvl="1"/>
            <a:endParaRPr lang="en-US" altLang="en-US"/>
          </a:p>
          <a:p>
            <a:pPr lvl="1"/>
            <a:r>
              <a:rPr lang="en-US" altLang="en-US"/>
              <a:t>Identify the presence of a mobile phone in the driver’s vicinity</a:t>
            </a:r>
            <a:endParaRPr lang="en-US" altLang="en-US"/>
          </a:p>
          <a:p>
            <a:pPr lvl="1"/>
            <a:endParaRPr lang="en-US" altLang="en-US"/>
          </a:p>
          <a:p>
            <a:pPr lvl="1"/>
            <a:r>
              <a:rPr lang="en-US" altLang="en-US"/>
              <a:t>Detect phone usage under real driving conditions</a:t>
            </a:r>
            <a:endParaRPr lang="en-US" alt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altLang="en-US"/>
              <a:t>Phone Detection Dataset</a:t>
            </a:r>
            <a:endParaRPr lang="en-US" alt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85000"/>
          </a:bodyPr>
          <a:p>
            <a:r>
              <a:rPr lang="en-US" altLang="en-US"/>
              <a:t>Dataset Used:</a:t>
            </a:r>
            <a:endParaRPr lang="en-US" altLang="en-US"/>
          </a:p>
          <a:p>
            <a:pPr lvl="1"/>
            <a:r>
              <a:rPr lang="en-US" altLang="en-US"/>
              <a:t>State Farm Distracted Driver Detection </a:t>
            </a:r>
            <a:br>
              <a:rPr lang="en-US" altLang="en-US"/>
            </a:br>
            <a:r>
              <a:rPr lang="en-US" altLang="en-US">
                <a:hlinkClick r:id="rId1" action="ppaction://hlinkfile"/>
              </a:rPr>
              <a:t>(https://www.kaggle.com/competitions/state-farm-distracted-driver-detection/data)</a:t>
            </a:r>
            <a:endParaRPr lang="en-US" altLang="en-US"/>
          </a:p>
          <a:p>
            <a:pPr lvl="1"/>
            <a:r>
              <a:rPr lang="en-US" altLang="en-US"/>
              <a:t>Real-world driving images</a:t>
            </a:r>
            <a:endParaRPr lang="en-US" altLang="en-US"/>
          </a:p>
          <a:p>
            <a:pPr lvl="1"/>
            <a:r>
              <a:rPr lang="en-US" altLang="en-US"/>
              <a:t>Multiple driver distraction categories</a:t>
            </a:r>
            <a:endParaRPr lang="en-US" altLang="en-US"/>
          </a:p>
          <a:p>
            <a:r>
              <a:rPr lang="en-US" altLang="en-US"/>
              <a:t>Focus of This Project:</a:t>
            </a:r>
            <a:endParaRPr lang="en-US" altLang="en-US"/>
          </a:p>
          <a:p>
            <a:pPr lvl="1"/>
            <a:r>
              <a:rPr lang="en-US" altLang="en-US"/>
              <a:t>Extract phone usage cases only</a:t>
            </a:r>
            <a:endParaRPr lang="en-US" altLang="en-US"/>
          </a:p>
          <a:p>
            <a:pPr lvl="1"/>
            <a:r>
              <a:rPr lang="en-US" altLang="en-US"/>
              <a:t>Ignore other distraction classes</a:t>
            </a:r>
            <a:endParaRPr lang="en-US" altLang="en-US"/>
          </a:p>
          <a:p>
            <a:pPr lvl="1"/>
            <a:r>
              <a:rPr lang="en-US" altLang="en-US"/>
              <a:t>Use dataset as a source of realistic driving scenarios</a:t>
            </a:r>
            <a:endParaRPr lang="en-US" altLang="en-US"/>
          </a:p>
          <a:p>
            <a:r>
              <a:rPr lang="en-US" altLang="en-US"/>
              <a:t>Limitation:</a:t>
            </a:r>
            <a:endParaRPr lang="en-US" altLang="en-US"/>
          </a:p>
          <a:p>
            <a:pPr lvl="1"/>
            <a:r>
              <a:rPr lang="en-US" altLang="en-US"/>
              <a:t>Dataset is designed for classification, not object detection</a:t>
            </a:r>
            <a:endParaRPr lang="en-US" altLang="en-US"/>
          </a:p>
          <a:p>
            <a:pPr lvl="1"/>
            <a:r>
              <a:rPr lang="en-US" altLang="en-US"/>
              <a:t>No bounding box annotations for phones</a:t>
            </a:r>
            <a:endParaRPr lang="en-US" altLang="en-US"/>
          </a:p>
        </p:txBody>
      </p:sp>
      <p:pic>
        <p:nvPicPr>
          <p:cNvPr id="4" name="Picture 3" descr="test_img_99870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164195" y="3155950"/>
            <a:ext cx="2856230" cy="214249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altLang="en-US"/>
              <a:t>Dataset Adaptation &amp; Annotation</a:t>
            </a:r>
            <a:endParaRPr lang="en-US" alt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0000" lnSpcReduction="20000"/>
          </a:bodyPr>
          <a:p>
            <a:r>
              <a:rPr lang="en-US" altLang="en-US"/>
              <a:t>Problem:</a:t>
            </a:r>
            <a:endParaRPr lang="en-US" altLang="en-US"/>
          </a:p>
          <a:p>
            <a:pPr lvl="1"/>
            <a:r>
              <a:rPr lang="en-US" altLang="en-US"/>
              <a:t>Dataset is not YOLO-ready</a:t>
            </a:r>
            <a:endParaRPr lang="en-US" altLang="en-US"/>
          </a:p>
          <a:p>
            <a:pPr lvl="1"/>
            <a:r>
              <a:rPr lang="en-US" altLang="en-US"/>
              <a:t>Missing object-level phone annotations</a:t>
            </a:r>
            <a:endParaRPr lang="en-US" altLang="en-US"/>
          </a:p>
          <a:p>
            <a:r>
              <a:rPr lang="en-US" altLang="en-US"/>
              <a:t>Solution:</a:t>
            </a:r>
            <a:endParaRPr lang="en-US" altLang="en-US"/>
          </a:p>
          <a:p>
            <a:pPr lvl="1"/>
            <a:r>
              <a:rPr lang="en-US" altLang="en-US"/>
              <a:t>Manual annotation of 50 images using CVAT.ai</a:t>
            </a:r>
            <a:endParaRPr lang="en-US" altLang="en-US"/>
          </a:p>
          <a:p>
            <a:pPr lvl="1"/>
            <a:r>
              <a:rPr lang="en-US" altLang="en-US"/>
              <a:t>Assisted annotation to label remaining images</a:t>
            </a:r>
            <a:endParaRPr lang="en-US" altLang="en-US"/>
          </a:p>
          <a:p>
            <a:r>
              <a:rPr lang="en-US" altLang="en-US"/>
              <a:t>Post-processing with Python:</a:t>
            </a:r>
            <a:endParaRPr lang="en-US" altLang="en-US"/>
          </a:p>
          <a:p>
            <a:pPr lvl="1"/>
            <a:r>
              <a:rPr lang="en-US" altLang="en-US"/>
              <a:t>Remove images with no phone detected</a:t>
            </a:r>
            <a:endParaRPr lang="en-US" altLang="en-US"/>
          </a:p>
          <a:p>
            <a:pPr lvl="1"/>
            <a:r>
              <a:rPr lang="en-US" altLang="en-US"/>
              <a:t>Filter out low-confidence detections</a:t>
            </a:r>
            <a:endParaRPr lang="en-US" altLang="en-US"/>
          </a:p>
          <a:p>
            <a:pPr lvl="1"/>
            <a:r>
              <a:rPr lang="en-US" altLang="en-US"/>
              <a:t>Reduce false positives</a:t>
            </a:r>
            <a:endParaRPr lang="en-US" altLang="en-US"/>
          </a:p>
          <a:p>
            <a:pPr lvl="0"/>
            <a:r>
              <a:rPr lang="en-US" altLang="en-US"/>
              <a:t>Final Dataset Size After Processing :</a:t>
            </a:r>
            <a:endParaRPr lang="en-US" altLang="en-US"/>
          </a:p>
          <a:p>
            <a:pPr lvl="1"/>
            <a:r>
              <a:rPr lang="en-US" altLang="en-US"/>
              <a:t>TRAIN images : 6608</a:t>
            </a:r>
            <a:endParaRPr lang="en-US" altLang="en-US"/>
          </a:p>
          <a:p>
            <a:pPr lvl="1"/>
            <a:r>
              <a:rPr lang="en-US" altLang="en-US"/>
              <a:t>VAL images : 1653 </a:t>
            </a:r>
            <a:endParaRPr lang="en-US" altLang="en-US"/>
          </a:p>
          <a:p>
            <a:pPr lvl="0"/>
            <a:endParaRPr lang="en-US" alt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altLang="en-US"/>
              <a:t>Phone Detection: Phase 1 (Base Training)</a:t>
            </a:r>
            <a:endParaRPr lang="en-US" alt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p>
            <a:r>
              <a:rPr lang="en-US"/>
              <a:t>Model : YOLOv8</a:t>
            </a:r>
            <a:endParaRPr lang="en-US"/>
          </a:p>
          <a:p>
            <a:r>
              <a:rPr lang="en-US"/>
              <a:t>Dataset : </a:t>
            </a:r>
            <a:r>
              <a:rPr lang="en-US" altLang="en-US"/>
              <a:t>State Farm Distracted Driver Detection</a:t>
            </a:r>
            <a:endParaRPr lang="en-US" altLang="en-US"/>
          </a:p>
          <a:p>
            <a:r>
              <a:rPr lang="en-US" altLang="en-US"/>
              <a:t>Training Setup: 30 epochs </a:t>
            </a:r>
            <a:endParaRPr lang="en-US" altLang="en-US"/>
          </a:p>
          <a:p>
            <a:endParaRPr lang="en-US" alt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altLang="en-US"/>
              <a:t>Limitation &amp; Fine-Tuning Strategy</a:t>
            </a:r>
            <a:endParaRPr lang="en-US" alt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825625"/>
            <a:ext cx="7768590" cy="4351655"/>
          </a:xfrm>
        </p:spPr>
        <p:txBody>
          <a:bodyPr>
            <a:normAutofit fontScale="90000" lnSpcReduction="10000"/>
          </a:bodyPr>
          <a:p>
            <a:r>
              <a:rPr lang="en-US" altLang="en-US"/>
              <a:t>Observed Limitation:</a:t>
            </a:r>
            <a:endParaRPr lang="en-US" altLang="en-US"/>
          </a:p>
          <a:p>
            <a:pPr lvl="1"/>
            <a:r>
              <a:rPr lang="en-US" altLang="en-US"/>
              <a:t>Poor detection performance during real webcam testing</a:t>
            </a:r>
            <a:endParaRPr lang="en-US" altLang="en-US"/>
          </a:p>
          <a:p>
            <a:pPr lvl="0"/>
            <a:r>
              <a:rPr lang="en-US" altLang="en-US"/>
              <a:t>Root Cause:</a:t>
            </a:r>
            <a:endParaRPr lang="en-US" altLang="en-US"/>
          </a:p>
          <a:p>
            <a:pPr lvl="1"/>
            <a:r>
              <a:rPr lang="en-US" altLang="en-US"/>
              <a:t>State Farm dataset camera setup differs from real in-car webcams</a:t>
            </a:r>
            <a:endParaRPr lang="en-US" altLang="en-US"/>
          </a:p>
          <a:p>
            <a:pPr lvl="0"/>
            <a:r>
              <a:rPr lang="en-US" altLang="en-US"/>
              <a:t>Solution — Fine-Tuning Phase:</a:t>
            </a:r>
            <a:endParaRPr lang="en-US" altLang="en-US"/>
          </a:p>
          <a:p>
            <a:pPr lvl="1"/>
            <a:r>
              <a:rPr lang="en-US" altLang="en-US"/>
              <a:t>Dataset: Advanced Driver Monitoring</a:t>
            </a:r>
            <a:endParaRPr lang="en-US" altLang="en-US"/>
          </a:p>
          <a:p>
            <a:pPr lvl="1"/>
            <a:r>
              <a:rPr lang="en-US" altLang="en-US"/>
              <a:t>Dataset Size : 2000 images (80% training / 20% validation)</a:t>
            </a:r>
            <a:endParaRPr lang="en-US" altLang="en-US"/>
          </a:p>
          <a:p>
            <a:pPr lvl="1"/>
            <a:r>
              <a:rPr lang="en-US" altLang="en-US"/>
              <a:t>Training: 6 fine-tuning epochs</a:t>
            </a:r>
            <a:endParaRPr lang="en-US" altLang="en-US"/>
          </a:p>
          <a:p>
            <a:pPr lvl="1"/>
            <a:r>
              <a:rPr lang="en-US" altLang="en-US"/>
              <a:t>Goal:</a:t>
            </a:r>
            <a:endParaRPr lang="en-US" altLang="en-US"/>
          </a:p>
          <a:p>
            <a:pPr lvl="2"/>
            <a:r>
              <a:rPr lang="en-US" altLang="en-US"/>
              <a:t>Adapt the model to realistic camera viewpoints</a:t>
            </a:r>
            <a:endParaRPr lang="en-US" altLang="en-US"/>
          </a:p>
          <a:p>
            <a:pPr lvl="2"/>
            <a:r>
              <a:rPr lang="en-US" altLang="en-US"/>
              <a:t>Improve detection robustness in live conditions</a:t>
            </a:r>
            <a:endParaRPr lang="en-US" altLang="en-US"/>
          </a:p>
        </p:txBody>
      </p:sp>
      <p:pic>
        <p:nvPicPr>
          <p:cNvPr id="4" name="Picture 3" descr="_-44-_mp4-49_jpg.rf.40421e909e984f5e3429d6f62079c455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489950" y="2637790"/>
            <a:ext cx="3223895" cy="22860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/>
              <a:t>Final Results 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p>
            <a:r>
              <a:rPr lang="en-US" altLang="en-US"/>
              <a:t>Precision (85.6%):</a:t>
            </a:r>
            <a:endParaRPr lang="en-US" altLang="en-US"/>
          </a:p>
          <a:p>
            <a:pPr lvl="1"/>
            <a:r>
              <a:rPr lang="en-US" altLang="en-US"/>
              <a:t>When the system detects a phone, it is correct in 85.6% of cases, reducing false alerts.</a:t>
            </a:r>
            <a:endParaRPr lang="en-US" altLang="en-US"/>
          </a:p>
          <a:p>
            <a:r>
              <a:rPr lang="en-US" altLang="en-US"/>
              <a:t>Recall (82.6%):</a:t>
            </a:r>
            <a:endParaRPr lang="en-US" altLang="en-US"/>
          </a:p>
          <a:p>
            <a:pPr lvl="1"/>
            <a:r>
              <a:rPr lang="en-US" altLang="en-US"/>
              <a:t>The system successfully detects 82.6% of all actual phone usage instances.</a:t>
            </a:r>
            <a:endParaRPr lang="en-US" altLang="en-US"/>
          </a:p>
          <a:p>
            <a:r>
              <a:rPr lang="en-US" altLang="en-US"/>
              <a:t>mAP@0.5 (89.8%):</a:t>
            </a:r>
            <a:endParaRPr lang="en-US" altLang="en-US"/>
          </a:p>
          <a:p>
            <a:pPr lvl="1"/>
            <a:r>
              <a:rPr lang="en-US" altLang="en-US"/>
              <a:t>The model achieves strong overall detection performance with accurate phone localization at IoU ≥ 0.5.</a:t>
            </a:r>
            <a:endParaRPr lang="en-US" alt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/>
              <a:t>Head Pose Dataset 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p>
            <a:r>
              <a:rPr lang="en-US" altLang="en-US">
                <a:hlinkClick r:id="rId1" action="ppaction://hlinkfile"/>
              </a:rPr>
              <a:t>BIWI Kinect Head Pose Dataset</a:t>
            </a:r>
            <a:endParaRPr lang="en-US" altLang="en-US">
              <a:hlinkClick r:id="rId2" action="ppaction://hlinkfile"/>
            </a:endParaRPr>
          </a:p>
          <a:p>
            <a:r>
              <a:rPr lang="en-US" altLang="en-US"/>
              <a:t>Dataset Overview:</a:t>
            </a:r>
            <a:endParaRPr lang="en-US" altLang="en-US"/>
          </a:p>
          <a:p>
            <a:pPr lvl="1"/>
            <a:r>
              <a:rPr lang="en-US" altLang="en-US"/>
              <a:t>Public benchmark dataset for head pose estimation</a:t>
            </a:r>
            <a:endParaRPr lang="en-US" altLang="en-US"/>
          </a:p>
          <a:p>
            <a:pPr lvl="1"/>
            <a:r>
              <a:rPr lang="en-US" altLang="en-US"/>
              <a:t>Captured using RGB + Depth Kinect sensor</a:t>
            </a:r>
            <a:endParaRPr lang="en-US" altLang="en-US"/>
          </a:p>
          <a:p>
            <a:pPr lvl="1"/>
            <a:r>
              <a:rPr lang="en-US" altLang="en-US"/>
              <a:t>Designed for yaw, pitch, and roll estimation</a:t>
            </a:r>
            <a:endParaRPr lang="en-US" altLang="en-US"/>
          </a:p>
          <a:p>
            <a:pPr lvl="0"/>
            <a:r>
              <a:rPr lang="en-US" altLang="en-US"/>
              <a:t>Annotations</a:t>
            </a:r>
            <a:endParaRPr lang="en-US" altLang="en-US"/>
          </a:p>
          <a:p>
            <a:pPr lvl="1"/>
            <a:r>
              <a:rPr lang="en-US" altLang="en-US"/>
              <a:t>Each frame has ground-truth head pose</a:t>
            </a:r>
            <a:endParaRPr lang="en-US" altLang="en-US"/>
          </a:p>
          <a:p>
            <a:pPr lvl="1"/>
            <a:r>
              <a:rPr lang="en-US" altLang="en-US"/>
              <a:t>Pose stored as 6 values:</a:t>
            </a:r>
            <a:endParaRPr lang="en-US" altLang="en-US"/>
          </a:p>
          <a:p>
            <a:pPr lvl="2"/>
            <a:r>
              <a:rPr lang="en-US" altLang="en-US"/>
              <a:t>Translation: (tx, ty, tz)</a:t>
            </a:r>
            <a:endParaRPr lang="en-US" altLang="en-US"/>
          </a:p>
          <a:p>
            <a:pPr lvl="2"/>
            <a:r>
              <a:rPr lang="en-US" altLang="en-US"/>
              <a:t>Rotation (Euler angles in degrees): (pitch, yaw, roll)</a:t>
            </a:r>
            <a:endParaRPr lang="en-US" altLang="en-US"/>
          </a:p>
        </p:txBody>
      </p:sp>
      <p:pic>
        <p:nvPicPr>
          <p:cNvPr id="4" name="Picture 3" descr="frame_00463_rgb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83830" y="3354705"/>
            <a:ext cx="3569970" cy="2677795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altLang="en-US"/>
              <a:t>Head Pose Model Training Pipeline</a:t>
            </a:r>
            <a:endParaRPr lang="en-US" alt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p>
            <a:pPr marL="342900" indent="-342900">
              <a:buAutoNum type="arabicPeriod"/>
            </a:pPr>
            <a:r>
              <a:rPr lang="en-US" altLang="en-US" sz="2000"/>
              <a:t>Data Preparation</a:t>
            </a:r>
            <a:endParaRPr lang="en-US" altLang="en-US" sz="2000"/>
          </a:p>
          <a:p>
            <a:pPr lvl="1"/>
            <a:r>
              <a:rPr lang="en-US" altLang="en-US" sz="1800"/>
              <a:t>Used face-cropped RGB images</a:t>
            </a:r>
            <a:endParaRPr lang="en-US" altLang="en-US" sz="1800"/>
          </a:p>
          <a:p>
            <a:pPr lvl="1"/>
            <a:r>
              <a:rPr lang="en-US" altLang="en-US" sz="1800"/>
              <a:t>Matched each image with its corresponding pose file</a:t>
            </a:r>
            <a:endParaRPr lang="en-US" altLang="en-US" sz="1800"/>
          </a:p>
          <a:p>
            <a:pPr lvl="1"/>
            <a:r>
              <a:rPr lang="en-US" altLang="en-US" sz="1800"/>
              <a:t>Extracted yaw and pitch angles (degrees)</a:t>
            </a:r>
            <a:endParaRPr lang="en-US" altLang="en-US" sz="1800"/>
          </a:p>
          <a:p>
            <a:pPr marL="342900" indent="-342900">
              <a:buAutoNum type="arabicPeriod"/>
            </a:pPr>
            <a:r>
              <a:rPr lang="en-US" altLang="en-US" sz="2000"/>
              <a:t>Preprocessing</a:t>
            </a:r>
            <a:endParaRPr lang="en-US" altLang="en-US" sz="2000"/>
          </a:p>
          <a:p>
            <a:pPr lvl="1"/>
            <a:r>
              <a:rPr lang="en-US" altLang="en-US" sz="1800"/>
              <a:t>Resize images to 224 × 224</a:t>
            </a:r>
            <a:endParaRPr lang="en-US" altLang="en-US" sz="1800"/>
          </a:p>
          <a:p>
            <a:pPr lvl="1"/>
            <a:r>
              <a:rPr lang="en-US" altLang="en-US" sz="1800"/>
              <a:t>Normalize using ImageNet statistics</a:t>
            </a:r>
            <a:endParaRPr lang="en-US" altLang="en-US" sz="1800"/>
          </a:p>
          <a:p>
            <a:pPr lvl="1"/>
            <a:r>
              <a:rPr lang="en-US" altLang="en-US" sz="1800"/>
              <a:t>No angle normalization (trained directly in degrees)</a:t>
            </a:r>
            <a:endParaRPr lang="en-US" altLang="en-US" sz="1800"/>
          </a:p>
          <a:p>
            <a:pPr marL="342900" indent="-342900">
              <a:buAutoNum type="arabicPeriod"/>
            </a:pPr>
            <a:r>
              <a:rPr lang="en-US" altLang="en-US" sz="2000"/>
              <a:t>Model Architecture</a:t>
            </a:r>
            <a:endParaRPr lang="en-US" altLang="en-US" sz="2000"/>
          </a:p>
          <a:p>
            <a:pPr lvl="1"/>
            <a:r>
              <a:rPr lang="en-US" altLang="en-US" sz="1800"/>
              <a:t>Backbone: ResNet-18</a:t>
            </a:r>
            <a:endParaRPr lang="en-US" altLang="en-US" sz="1800"/>
          </a:p>
          <a:p>
            <a:pPr lvl="1"/>
            <a:r>
              <a:rPr lang="en-US" altLang="en-US" sz="1800"/>
              <a:t>Pretrained on ImageNet</a:t>
            </a:r>
            <a:endParaRPr lang="en-US" altLang="en-US" sz="1800"/>
          </a:p>
          <a:p>
            <a:pPr lvl="1"/>
            <a:r>
              <a:rPr lang="en-US" altLang="en-US" sz="1800"/>
              <a:t>Custom regression head:</a:t>
            </a:r>
            <a:endParaRPr lang="en-US" altLang="en-US" sz="1800"/>
          </a:p>
          <a:p>
            <a:pPr lvl="2"/>
            <a:r>
              <a:rPr lang="en-US" altLang="en-US" sz="1400"/>
              <a:t>Fully connected layers</a:t>
            </a:r>
            <a:endParaRPr lang="en-US" altLang="en-US" sz="1400"/>
          </a:p>
          <a:p>
            <a:pPr lvl="2"/>
            <a:r>
              <a:rPr lang="en-US" altLang="en-US" sz="1400"/>
              <a:t>Outputs: Yaw &amp; Pitch</a:t>
            </a:r>
            <a:endParaRPr lang="en-US" altLang="en-US" sz="140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altLang="en-US"/>
              <a:t> Head Pose Real-Time Testing</a:t>
            </a:r>
            <a:endParaRPr lang="en-US" alt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p>
            <a:r>
              <a:rPr lang="en-US"/>
              <a:t>Calibration Phase : </a:t>
            </a:r>
            <a:endParaRPr lang="en-US" altLang="en-US"/>
          </a:p>
          <a:p>
            <a:pPr lvl="1"/>
            <a:r>
              <a:rPr lang="en-US" altLang="en-US"/>
              <a:t>The system asks the driver to look straight ahead</a:t>
            </a:r>
            <a:endParaRPr lang="en-US" altLang="en-US"/>
          </a:p>
          <a:p>
            <a:pPr lvl="1"/>
            <a:r>
              <a:rPr lang="en-US" altLang="en-US"/>
              <a:t>Yaw and pitch angles are collected over several frames</a:t>
            </a:r>
            <a:endParaRPr lang="en-US" altLang="en-US"/>
          </a:p>
          <a:p>
            <a:pPr lvl="1"/>
            <a:r>
              <a:rPr lang="en-US" altLang="en-US"/>
              <a:t>The average yaw and pitch define the neutral head position</a:t>
            </a:r>
            <a:endParaRPr lang="en-US" altLang="en-US"/>
          </a:p>
          <a:p>
            <a:pPr lvl="1"/>
            <a:r>
              <a:rPr lang="en-US" altLang="en-US"/>
              <a:t>The standard deviation (σ) measures the driver’s natural head movement</a:t>
            </a:r>
            <a:endParaRPr lang="en-US" altLang="en-US"/>
          </a:p>
          <a:p>
            <a:pPr lvl="0"/>
            <a:r>
              <a:rPr lang="en-US" altLang="en-US"/>
              <a:t>Adaptive Threshold Computation</a:t>
            </a:r>
            <a:endParaRPr lang="en-US" altLang="en-US"/>
          </a:p>
          <a:p>
            <a:pPr lvl="1"/>
            <a:r>
              <a:rPr lang="en-US" altLang="en-US"/>
              <a:t>Thresholds are computed using statistical variation: Threshold = K × σ</a:t>
            </a:r>
            <a:endParaRPr lang="en-US" altLang="en-US"/>
          </a:p>
          <a:p>
            <a:pPr lvl="1"/>
            <a:r>
              <a:rPr lang="en-US" altLang="en-US"/>
              <a:t>K = 3, covering approximately 99% of normal behavior</a:t>
            </a:r>
            <a:endParaRPr lang="en-US" altLang="en-US"/>
          </a:p>
          <a:p>
            <a:pPr lvl="1"/>
            <a:r>
              <a:rPr lang="en-US" altLang="en-US"/>
              <a:t>This ensures thresholds adapt to each individual driver</a:t>
            </a:r>
            <a:endParaRPr lang="en-US" altLang="en-US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altLang="en-US"/>
              <a:t>Results &amp; Performance</a:t>
            </a:r>
            <a:endParaRPr lang="en-US" alt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p>
            <a:r>
              <a:rPr lang="en-US" altLang="en-US"/>
              <a:t>Best Validation Performance after 25 epochs :</a:t>
            </a:r>
            <a:endParaRPr lang="en-US" altLang="en-US"/>
          </a:p>
          <a:p>
            <a:pPr lvl="1"/>
            <a:r>
              <a:rPr lang="en-US" altLang="en-US"/>
              <a:t>Yaw MAE: 4.81</a:t>
            </a:r>
            <a:r>
              <a:rPr lang="en-US" altLang="en-US"/>
              <a:t>°</a:t>
            </a:r>
            <a:endParaRPr lang="en-US" altLang="en-US"/>
          </a:p>
          <a:p>
            <a:pPr lvl="1"/>
            <a:r>
              <a:rPr lang="en-US" altLang="en-US"/>
              <a:t>Pitch MAE: 5.57</a:t>
            </a:r>
            <a:r>
              <a:rPr lang="en-US" altLang="en-US"/>
              <a:t>°</a:t>
            </a:r>
            <a:endParaRPr lang="en-US" altLang="en-US"/>
          </a:p>
          <a:p>
            <a:pPr lvl="1"/>
            <a:r>
              <a:rPr lang="en-US" altLang="en-US"/>
              <a:t>Average MAE: 5.19</a:t>
            </a:r>
            <a:r>
              <a:rPr lang="en-US" altLang="en-US"/>
              <a:t>°</a:t>
            </a:r>
            <a:endParaRPr lang="en-US" altLang="en-US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altLang="en-US"/>
              <a:t>Conclusion</a:t>
            </a:r>
            <a:endParaRPr lang="en-US" alt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p>
            <a:pPr marL="0" indent="0">
              <a:buNone/>
            </a:pPr>
            <a:r>
              <a:rPr lang="en-US" altLang="en-US"/>
              <a:t>This project presented a real-time Driver Monitoring and Alert System capable of detecting drowsiness, distraction, and phone usage using computer vision and deep learning techniques.</a:t>
            </a:r>
            <a:endParaRPr lang="en-US" altLang="en-US"/>
          </a:p>
          <a:p>
            <a:pPr marL="0" indent="0">
              <a:buNone/>
            </a:pPr>
            <a:r>
              <a:rPr lang="en-US" altLang="en-US"/>
              <a:t>By combining:</a:t>
            </a:r>
            <a:endParaRPr lang="en-US" altLang="en-US"/>
          </a:p>
          <a:p>
            <a:pPr lvl="1"/>
            <a:r>
              <a:rPr lang="en-US" altLang="en-US"/>
              <a:t>Eye state classification for reliable drowsiness detection</a:t>
            </a:r>
            <a:endParaRPr lang="en-US" altLang="en-US"/>
          </a:p>
          <a:p>
            <a:pPr lvl="1"/>
            <a:r>
              <a:rPr lang="en-US" altLang="en-US"/>
              <a:t>YOLO-based phone detection adapted to real in-car conditions</a:t>
            </a:r>
            <a:endParaRPr lang="en-US" altLang="en-US"/>
          </a:p>
          <a:p>
            <a:pPr lvl="1"/>
            <a:r>
              <a:rPr lang="en-US" altLang="en-US"/>
              <a:t>Head pose estimation with adaptive, driver-specific calibration</a:t>
            </a:r>
            <a:endParaRPr lang="en-US" altLang="en-US"/>
          </a:p>
          <a:p>
            <a:pPr marL="0" lvl="0" indent="0">
              <a:buNone/>
            </a:pPr>
            <a:r>
              <a:rPr lang="en-US" altLang="en-US"/>
              <a:t>Together, these components form a unified safety system capable of providing timely and meaningful alerts to enhance driver awareness and road safety.</a:t>
            </a:r>
            <a:endParaRPr lang="en-US" altLang="en-US"/>
          </a:p>
          <a:p>
            <a:endParaRPr lang="en-US" alt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5267</Words>
  <Application>WPS Presentation</Application>
  <PresentationFormat>Widescreen</PresentationFormat>
  <Paragraphs>188</Paragraphs>
  <Slides>17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7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17</vt:i4>
      </vt:variant>
    </vt:vector>
  </HeadingPairs>
  <TitlesOfParts>
    <vt:vector size="25" baseType="lpstr">
      <vt:lpstr>Arial</vt:lpstr>
      <vt:lpstr>SimSun</vt:lpstr>
      <vt:lpstr>Wingdings</vt:lpstr>
      <vt:lpstr>Calibri Light</vt:lpstr>
      <vt:lpstr>Calibri</vt:lpstr>
      <vt:lpstr>Microsoft YaHei</vt:lpstr>
      <vt:lpstr>Arial Unicode MS</vt:lpstr>
      <vt:lpstr>Office Theme</vt:lpstr>
      <vt:lpstr>Driver Monitoring and Alert System</vt:lpstr>
      <vt:lpstr>Project Objective</vt:lpstr>
      <vt:lpstr>Eye Closure Detection: Model Overview</vt:lpstr>
      <vt:lpstr>Eye State Dataset</vt:lpstr>
      <vt:lpstr>Drowsiness Decision Logic</vt:lpstr>
      <vt:lpstr>Training &amp; Validation Results — Eye State CNN</vt:lpstr>
      <vt:lpstr>Phone Detection Module — Objective</vt:lpstr>
      <vt:lpstr>Phone Detection Dataset</vt:lpstr>
      <vt:lpstr>Dataset Adaptation &amp; Annotation</vt:lpstr>
      <vt:lpstr>Phone Detection: Phase 1 (Base Training)</vt:lpstr>
      <vt:lpstr>Limitation &amp; Fine-Tuning Strategy</vt:lpstr>
      <vt:lpstr>Final Results </vt:lpstr>
      <vt:lpstr>Head Pose Dataset </vt:lpstr>
      <vt:lpstr>Head Pose Model Training Pipeline</vt:lpstr>
      <vt:lpstr> Head Pose Real-Time Testing</vt:lpstr>
      <vt:lpstr>Results &amp; Performance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WPS Presentation</dc:title>
  <dc:creator/>
  <cp:lastModifiedBy>user</cp:lastModifiedBy>
  <cp:revision>13</cp:revision>
  <dcterms:created xsi:type="dcterms:W3CDTF">2025-07-23T00:59:00Z</dcterms:created>
  <dcterms:modified xsi:type="dcterms:W3CDTF">2026-01-16T11:14:44Z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2A87C928ECF4410A9FB70F72C943EAA3_11</vt:lpwstr>
  </property>
  <property fmtid="{D5CDD505-2E9C-101B-9397-08002B2CF9AE}" pid="3" name="KSOProductBuildVer">
    <vt:lpwstr>1033-12.2.0.23196</vt:lpwstr>
  </property>
</Properties>
</file>